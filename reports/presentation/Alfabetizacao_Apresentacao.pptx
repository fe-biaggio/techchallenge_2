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724144"/>
            <a:ext cx="12191695" cy="113385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3">
            <a:extLst>
              <a:ext uri="{FF2B5EF4-FFF2-40B4-BE49-F238E27FC236}">
                <a16:creationId xmlns:a16="http://schemas.microsoft.com/office/drawing/2014/main" id="{E1D8E6B4-34EF-F875-C901-32352B4B8E09}"/>
              </a:ext>
            </a:extLst>
          </p:cNvPr>
          <p:cNvSpPr txBox="1"/>
          <p:nvPr/>
        </p:nvSpPr>
        <p:spPr>
          <a:xfrm>
            <a:off x="914400" y="759306"/>
            <a:ext cx="100584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FFFFFF"/>
                </a:solidFill>
              </a:rPr>
              <a:t>Case</a:t>
            </a:r>
            <a:r>
              <a:rPr lang="pt-BR" sz="4400" b="1" i="0" dirty="0">
                <a:solidFill>
                  <a:srgbClr val="FFFFFF"/>
                </a:solidFill>
              </a:rPr>
              <a:t> 02</a:t>
            </a:r>
            <a:endParaRPr sz="4400" b="1" i="0" dirty="0">
              <a:solidFill>
                <a:srgbClr val="FFFFFF"/>
              </a:solidFill>
            </a:endParaRPr>
          </a:p>
        </p:txBody>
      </p:sp>
      <p:sp>
        <p:nvSpPr>
          <p:cNvPr id="12" name="TextBox 4">
            <a:extLst>
              <a:ext uri="{FF2B5EF4-FFF2-40B4-BE49-F238E27FC236}">
                <a16:creationId xmlns:a16="http://schemas.microsoft.com/office/drawing/2014/main" id="{69E7B574-F9AB-0460-E210-81648042C13D}"/>
              </a:ext>
            </a:extLst>
          </p:cNvPr>
          <p:cNvSpPr txBox="1"/>
          <p:nvPr/>
        </p:nvSpPr>
        <p:spPr>
          <a:xfrm>
            <a:off x="914400" y="2211897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b="1" dirty="0">
                <a:solidFill>
                  <a:srgbClr val="FFFFFF"/>
                </a:solidFill>
              </a:rPr>
              <a:t>Análise da Alfabetização no Brasil</a:t>
            </a:r>
          </a:p>
        </p:txBody>
      </p:sp>
      <p:sp>
        <p:nvSpPr>
          <p:cNvPr id="14" name="Rectangle 5">
            <a:extLst>
              <a:ext uri="{FF2B5EF4-FFF2-40B4-BE49-F238E27FC236}">
                <a16:creationId xmlns:a16="http://schemas.microsoft.com/office/drawing/2014/main" id="{8A9F078D-49AB-5379-7440-D8639757E017}"/>
              </a:ext>
            </a:extLst>
          </p:cNvPr>
          <p:cNvSpPr/>
          <p:nvPr/>
        </p:nvSpPr>
        <p:spPr>
          <a:xfrm>
            <a:off x="4114800" y="3031206"/>
            <a:ext cx="393192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FF898DDB-ABC0-7C1B-4109-470ECF733D8A}"/>
              </a:ext>
            </a:extLst>
          </p:cNvPr>
          <p:cNvSpPr txBox="1"/>
          <p:nvPr/>
        </p:nvSpPr>
        <p:spPr>
          <a:xfrm>
            <a:off x="1065212" y="3670027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 dirty="0">
                <a:solidFill>
                  <a:srgbClr val="88AACC"/>
                </a:solidFill>
              </a:rPr>
              <a:t>Pós-Tech FIAP  |  1IAST  |  Tech Challenge Fase </a:t>
            </a:r>
            <a:r>
              <a:rPr lang="pt-BR" sz="2400" b="0" i="0" dirty="0">
                <a:solidFill>
                  <a:srgbClr val="88AACC"/>
                </a:solidFill>
              </a:rPr>
              <a:t>2</a:t>
            </a:r>
            <a:endParaRPr sz="2400" b="0" i="0" dirty="0">
              <a:solidFill>
                <a:srgbClr val="88AACC"/>
              </a:solidFill>
            </a:endParaRPr>
          </a:p>
        </p:txBody>
      </p:sp>
      <p:sp>
        <p:nvSpPr>
          <p:cNvPr id="18" name="TextBox 6">
            <a:extLst>
              <a:ext uri="{FF2B5EF4-FFF2-40B4-BE49-F238E27FC236}">
                <a16:creationId xmlns:a16="http://schemas.microsoft.com/office/drawing/2014/main" id="{0A84BDA8-A494-149E-B9E5-A0A85DEFE623}"/>
              </a:ext>
            </a:extLst>
          </p:cNvPr>
          <p:cNvSpPr txBox="1"/>
          <p:nvPr/>
        </p:nvSpPr>
        <p:spPr>
          <a:xfrm>
            <a:off x="1065212" y="4131692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0" i="0" dirty="0">
                <a:solidFill>
                  <a:schemeClr val="bg1"/>
                </a:solidFill>
              </a:rPr>
              <a:t>Felipe Barbato de Biaggio</a:t>
            </a:r>
            <a:endParaRPr sz="2400" b="0" i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061"/>
    </mc:Choice>
    <mc:Fallback xmlns="">
      <p:transition spd="slow" advTm="906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 Problema de Negócio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Situação atual: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1133856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sz="1500" dirty="0">
                <a:solidFill>
                  <a:srgbClr val="444444"/>
                </a:solidFill>
                <a:latin typeface="Calibri"/>
              </a:rPr>
              <a:t>O 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CNCA (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Compromisso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Nacional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Criança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Alfabetizada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)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mobiliza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União</a:t>
            </a:r>
            <a:r>
              <a:rPr sz="1500" dirty="0">
                <a:solidFill>
                  <a:srgbClr val="444444"/>
                </a:solidFill>
                <a:latin typeface="Calibri"/>
              </a:rPr>
              <a:t>,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estados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e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municípios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para que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toda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criança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esteja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alfabetizada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até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o final do 2º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ano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do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ensino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fundamental — meta: 2030.</a:t>
            </a:r>
            <a:endParaRPr lang="pt-BR" sz="1500" dirty="0">
              <a:solidFill>
                <a:srgbClr val="444444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pt-BR" sz="150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Em 2025, 66,0% das crianças avaliadas atingem esse patamar — a meta é 80,0% até 2030.</a:t>
            </a:r>
            <a:endParaRPr sz="1500" dirty="0">
              <a:solidFill>
                <a:srgbClr val="444444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sz="1500" dirty="0">
                <a:solidFill>
                  <a:srgbClr val="444444"/>
                </a:solidFill>
                <a:latin typeface="Calibri"/>
              </a:rPr>
              <a:t>O INEP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definiu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743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pontos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na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escala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de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proficiência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do Saeb 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(Sistema de Avaliação da Educação Básica)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como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o corte de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alfabetização</a:t>
            </a:r>
            <a:r>
              <a:rPr sz="1500" dirty="0">
                <a:solidFill>
                  <a:srgbClr val="444444"/>
                </a:solidFill>
                <a:latin typeface="Calibri"/>
              </a:rPr>
              <a:t>,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criando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o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Indicador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Criança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Alfabetizada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lang="pt-BR" sz="150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Dados não integrados e sem acompanhamento de resultados, metas, território e contexto socioeconômico, gestores não enxergam onde agir primeiro.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34840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Pergunta central: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892040"/>
            <a:ext cx="9439143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224343"/>
            <a:ext cx="90982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1" dirty="0">
                <a:solidFill>
                  <a:srgbClr val="1A253A"/>
                </a:solidFill>
                <a:latin typeface="Calibri"/>
              </a:rPr>
              <a:t>“Como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transformar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dados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dispersos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do INEP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em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uma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base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confiável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,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atualizada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e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pronta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para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decisão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—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mostrando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quem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está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evoluindo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,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quem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está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estagnado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, e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por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700" b="0" i="1" dirty="0" err="1">
                <a:solidFill>
                  <a:srgbClr val="1A253A"/>
                </a:solidFill>
                <a:latin typeface="Calibri"/>
              </a:rPr>
              <a:t>quê</a:t>
            </a:r>
            <a:r>
              <a:rPr sz="1700" b="0" i="1" dirty="0">
                <a:solidFill>
                  <a:srgbClr val="1A253A"/>
                </a:solidFill>
                <a:latin typeface="Calibri"/>
              </a:rPr>
              <a:t>?”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3989"/>
    </mc:Choice>
    <mc:Fallback xmlns="">
      <p:transition spd="slow" advTm="83989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Diagnóstico: Onde Estamos Hoje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26060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73352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66,0%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420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Indicador nacional (2025)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508760"/>
            <a:ext cx="26060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1673352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80,0%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420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Meta nacional (2030)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508760"/>
            <a:ext cx="26060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1673352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14,0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420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Gap para a meta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508760"/>
            <a:ext cx="26060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0" y="1673352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+10,1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420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Evolução 2023–2025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29000"/>
            <a:ext cx="11430000" cy="274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3611880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F4E79"/>
                </a:solidFill>
                <a:latin typeface="Calibri"/>
              </a:rPr>
              <a:t>O que esses números significam para a gestão?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160520"/>
            <a:ext cx="113385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E86C1"/>
                </a:solidFill>
                <a:latin typeface="Calibri"/>
              </a:rPr>
              <a:t>▶ </a:t>
            </a:r>
            <a:r>
              <a:rPr sz="1500" dirty="0">
                <a:solidFill>
                  <a:srgbClr val="444444"/>
                </a:solidFill>
                <a:latin typeface="Calibri"/>
              </a:rPr>
              <a:t>Estamos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avançando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(+10,1 p.p.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em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2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anos</a:t>
            </a:r>
            <a:r>
              <a:rPr sz="1500" dirty="0">
                <a:solidFill>
                  <a:srgbClr val="444444"/>
                </a:solidFill>
                <a:latin typeface="Calibri"/>
              </a:rPr>
              <a:t>), 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	ritmo excelente, mas tende a desacelerar com estados e municípios já atingindo altos índices. O maior problema são os estados/</a:t>
            </a:r>
            <a:r>
              <a:rPr lang="pt-BR" sz="1500" dirty="0" err="1">
                <a:solidFill>
                  <a:srgbClr val="444444"/>
                </a:solidFill>
                <a:latin typeface="Calibri"/>
              </a:rPr>
              <a:t>munícípios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 com maior distância da meta.</a:t>
            </a:r>
            <a:endParaRPr sz="1500" dirty="0">
              <a:solidFill>
                <a:srgbClr val="444444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E86C1"/>
                </a:solidFill>
                <a:latin typeface="Calibri"/>
              </a:rPr>
              <a:t>▶ 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De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sigualdade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regional: CE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chega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a 85,3%,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enquanto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BA não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passa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de 36,0%.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E86C1"/>
                </a:solidFill>
                <a:latin typeface="Calibri"/>
              </a:rPr>
              <a:t>▶ </a:t>
            </a:r>
            <a:r>
              <a:rPr sz="1500" dirty="0">
                <a:solidFill>
                  <a:srgbClr val="444444"/>
                </a:solidFill>
                <a:latin typeface="Calibri"/>
              </a:rPr>
              <a:t>RS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teve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a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maior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queda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do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país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entre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os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dois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últimos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anos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(-18,8 p.p.) — 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S</a:t>
            </a:r>
            <a:r>
              <a:rPr sz="1500" dirty="0" err="1">
                <a:solidFill>
                  <a:srgbClr val="444444"/>
                </a:solidFill>
                <a:latin typeface="Calibri"/>
              </a:rPr>
              <a:t>inal</a:t>
            </a:r>
            <a:r>
              <a:rPr sz="1500" dirty="0">
                <a:solidFill>
                  <a:srgbClr val="444444"/>
                </a:solidFill>
                <a:latin typeface="Calibri"/>
              </a:rPr>
              <a:t> de alert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a</a:t>
            </a:r>
            <a:r>
              <a:rPr sz="1500" dirty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006"/>
    </mc:Choice>
    <mc:Fallback xmlns="">
      <p:transition spd="slow" advTm="14006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Arquitetura da Solução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2423160" cy="1051560"/>
          </a:xfrm>
          <a:prstGeom prst="roundRect">
            <a:avLst>
              <a:gd name="adj" fmla="val 6000"/>
            </a:avLst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Fontes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476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INEP / Base dos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Dados + IDHM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+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7830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253A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508760"/>
            <a:ext cx="2423160" cy="105156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0" y="16184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Bronze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476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Dado bruto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preservado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7830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253A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1508760"/>
            <a:ext cx="2423160" cy="1051560"/>
          </a:xfrm>
          <a:prstGeom prst="roundRect">
            <a:avLst>
              <a:gd name="adj" fmla="val 6000"/>
            </a:avLst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0" y="16184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9476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Limpo, integrado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 validado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7830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253A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1508760"/>
            <a:ext cx="2423160" cy="1051560"/>
          </a:xfrm>
          <a:prstGeom prst="roundRect">
            <a:avLst>
              <a:gd name="adj" fmla="val 6000"/>
            </a:avLst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0" y="16184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9476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Pronto para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análise e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13385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 err="1">
                <a:solidFill>
                  <a:srgbClr val="444444"/>
                </a:solidFill>
                <a:latin typeface="Calibri"/>
              </a:rPr>
              <a:t>Qualidade</a:t>
            </a:r>
            <a:r>
              <a:rPr sz="1300" b="0" i="1" dirty="0">
                <a:solidFill>
                  <a:srgbClr val="444444"/>
                </a:solidFill>
                <a:latin typeface="Calibri"/>
              </a:rPr>
              <a:t> de dados </a:t>
            </a:r>
            <a:r>
              <a:rPr sz="1300" b="0" i="1" dirty="0" err="1">
                <a:solidFill>
                  <a:srgbClr val="444444"/>
                </a:solidFill>
                <a:latin typeface="Calibri"/>
              </a:rPr>
              <a:t>validada</a:t>
            </a:r>
            <a:r>
              <a:rPr sz="1300" b="0" i="1" dirty="0">
                <a:solidFill>
                  <a:srgbClr val="444444"/>
                </a:solidFill>
                <a:latin typeface="Calibri"/>
              </a:rPr>
              <a:t> de </a:t>
            </a:r>
            <a:r>
              <a:rPr sz="1300" b="0" i="1" dirty="0" err="1">
                <a:solidFill>
                  <a:srgbClr val="444444"/>
                </a:solidFill>
                <a:latin typeface="Calibri"/>
              </a:rPr>
              <a:t>ponta</a:t>
            </a:r>
            <a:r>
              <a:rPr sz="1300" b="0" i="1" dirty="0">
                <a:solidFill>
                  <a:srgbClr val="444444"/>
                </a:solidFill>
                <a:latin typeface="Calibri"/>
              </a:rPr>
              <a:t> a </a:t>
            </a:r>
            <a:r>
              <a:rPr sz="1300" b="0" i="1" dirty="0" err="1">
                <a:solidFill>
                  <a:srgbClr val="444444"/>
                </a:solidFill>
                <a:latin typeface="Calibri"/>
              </a:rPr>
              <a:t>ponta</a:t>
            </a:r>
            <a:r>
              <a:rPr sz="1300" b="0" i="1" dirty="0">
                <a:solidFill>
                  <a:srgbClr val="444444"/>
                </a:solidFill>
                <a:latin typeface="Calibri"/>
              </a:rPr>
              <a:t>, </a:t>
            </a:r>
            <a:r>
              <a:rPr sz="1300" b="0" i="1" dirty="0" err="1">
                <a:solidFill>
                  <a:srgbClr val="444444"/>
                </a:solidFill>
                <a:latin typeface="Calibri"/>
              </a:rPr>
              <a:t>em</a:t>
            </a:r>
            <a:r>
              <a:rPr sz="1300" b="0" i="1" dirty="0">
                <a:solidFill>
                  <a:srgbClr val="444444"/>
                </a:solidFill>
                <a:latin typeface="Calibri"/>
              </a:rPr>
              <a:t> </a:t>
            </a:r>
            <a:r>
              <a:rPr sz="1300" b="0" i="1" dirty="0" err="1">
                <a:solidFill>
                  <a:srgbClr val="444444"/>
                </a:solidFill>
                <a:latin typeface="Calibri"/>
              </a:rPr>
              <a:t>todas</a:t>
            </a:r>
            <a:r>
              <a:rPr sz="1300" b="0" i="1" dirty="0">
                <a:solidFill>
                  <a:srgbClr val="444444"/>
                </a:solidFill>
                <a:latin typeface="Calibri"/>
              </a:rPr>
              <a:t> as </a:t>
            </a:r>
            <a:r>
              <a:rPr sz="1300" b="0" i="1" dirty="0" err="1">
                <a:solidFill>
                  <a:srgbClr val="444444"/>
                </a:solidFill>
                <a:latin typeface="Calibri"/>
              </a:rPr>
              <a:t>camadas</a:t>
            </a:r>
            <a:r>
              <a:rPr lang="pt-BR" sz="1300" i="1" dirty="0">
                <a:solidFill>
                  <a:srgbClr val="444444"/>
                </a:solidFill>
                <a:latin typeface="Calibri"/>
              </a:rPr>
              <a:t> e</a:t>
            </a:r>
            <a:r>
              <a:rPr sz="1300" b="0" i="1" dirty="0">
                <a:solidFill>
                  <a:srgbClr val="444444"/>
                </a:solidFill>
                <a:latin typeface="Calibri"/>
              </a:rPr>
              <a:t> a </a:t>
            </a:r>
            <a:r>
              <a:rPr sz="1300" b="0" i="1" dirty="0" err="1">
                <a:solidFill>
                  <a:srgbClr val="444444"/>
                </a:solidFill>
                <a:latin typeface="Calibri"/>
              </a:rPr>
              <a:t>cada</a:t>
            </a:r>
            <a:r>
              <a:rPr sz="1300" b="0" i="1" dirty="0">
                <a:solidFill>
                  <a:srgbClr val="444444"/>
                </a:solidFill>
                <a:latin typeface="Calibri"/>
              </a:rPr>
              <a:t> </a:t>
            </a:r>
            <a:r>
              <a:rPr sz="1300" b="0" i="1" dirty="0" err="1">
                <a:solidFill>
                  <a:srgbClr val="444444"/>
                </a:solidFill>
                <a:latin typeface="Calibri"/>
              </a:rPr>
              <a:t>execução</a:t>
            </a:r>
            <a:endParaRPr sz="1300" b="0" i="1" dirty="0">
              <a:solidFill>
                <a:srgbClr val="444444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57200" y="3520440"/>
            <a:ext cx="11247120" cy="1069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5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Ingestão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híbrida</a:t>
            </a:r>
            <a:r>
              <a:rPr sz="1450" dirty="0">
                <a:solidFill>
                  <a:srgbClr val="444444"/>
                </a:solidFill>
                <a:latin typeface="Calibri"/>
              </a:rPr>
              <a:t>: dados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históricos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por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lote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(batch, com fallback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automático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) +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eventos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simulados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de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atualização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(streaming).</a:t>
            </a:r>
          </a:p>
          <a:p>
            <a:pPr>
              <a:spcAft>
                <a:spcPts val="1200"/>
              </a:spcAft>
            </a:pPr>
            <a:r>
              <a:rPr sz="145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sz="1450" dirty="0">
                <a:solidFill>
                  <a:srgbClr val="444444"/>
                </a:solidFill>
                <a:latin typeface="Calibri"/>
              </a:rPr>
              <a:t>9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fontes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de dados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integradas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(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resultado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,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metas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,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território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,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microdados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de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alunos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, IDHM),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unificadas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em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um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único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registro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por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município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e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ano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45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sz="1450" dirty="0">
                <a:solidFill>
                  <a:srgbClr val="444444"/>
                </a:solidFill>
                <a:latin typeface="Calibri"/>
              </a:rPr>
              <a:t>A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camada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Gold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alimenta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diretamente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dashboards,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análises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estatísticas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e o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treinamento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de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modelos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de machine learning —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sem</a:t>
            </a:r>
            <a:r>
              <a:rPr sz="1450" dirty="0">
                <a:solidFill>
                  <a:srgbClr val="444444"/>
                </a:solidFill>
                <a:latin typeface="Calibri"/>
              </a:rPr>
              <a:t> </a:t>
            </a:r>
            <a:r>
              <a:rPr sz="1450" dirty="0" err="1">
                <a:solidFill>
                  <a:srgbClr val="444444"/>
                </a:solidFill>
                <a:latin typeface="Calibri"/>
              </a:rPr>
              <a:t>retrabalho</a:t>
            </a:r>
            <a:r>
              <a:rPr sz="1450" dirty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735"/>
    </mc:Choice>
    <mc:Fallback xmlns="">
      <p:transition spd="slow" advTm="33735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TRANSPARÊNCIA COM OS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Qualidade e Limitações dos 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1A253A"/>
                </a:solidFill>
                <a:latin typeface="Calibri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05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Tabelas verificadas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80" y="1627632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28 /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1305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Tabelas 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38160" y="1627632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1305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 dirty="0" err="1">
                <a:solidFill>
                  <a:srgbClr val="444444"/>
                </a:solidFill>
                <a:latin typeface="Calibri"/>
              </a:rPr>
              <a:t>Alertas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de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qualidade</a:t>
            </a:r>
            <a:endParaRPr sz="1250" b="0" i="0" dirty="0">
              <a:solidFill>
                <a:srgbClr val="444444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65760" y="2971800"/>
            <a:ext cx="3685032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2971800"/>
            <a:ext cx="82296" cy="324612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3118104"/>
            <a:ext cx="32278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📖  Dicionário oficial indisponível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3538728"/>
            <a:ext cx="32278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444444"/>
                </a:solidFill>
                <a:latin typeface="Calibri"/>
              </a:rPr>
              <a:t>5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colunas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(rede,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serie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presenca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preenchimento_caderno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alfabetizado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)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tiveram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o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significado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inferido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—</a:t>
            </a:r>
            <a:r>
              <a:rPr lang="pt-BR" sz="1200" b="0" i="0" dirty="0">
                <a:solidFill>
                  <a:srgbClr val="444444"/>
                </a:solidFill>
                <a:latin typeface="Calibri"/>
              </a:rPr>
              <a:t> Sem acesso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.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3672" y="2971800"/>
            <a:ext cx="3685032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33672" y="2971800"/>
            <a:ext cx="82296" cy="324612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9704" y="3118104"/>
            <a:ext cx="32278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📅  A fonte atualiza pouco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704" y="3538728"/>
            <a:ext cx="322783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Última atualização registrada: 23/09/2025 — mas ainda não há dado de 2025 disponível. O indicador é medido uma vez por ciclo letivo, não é dado transacional que muda dia a dia.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2971800"/>
            <a:ext cx="3685032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01583" y="2971800"/>
            <a:ext cx="82296" cy="32461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57615" y="3118104"/>
            <a:ext cx="32278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🔄  Streaming é uma simulação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5" y="3538728"/>
            <a:ext cx="32278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444444"/>
                </a:solidFill>
                <a:latin typeface="Calibri"/>
              </a:rPr>
              <a:t>Eventos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sintéticos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demonstram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o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padrão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de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ingestão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incremental. A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fonte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real não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emite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atualizações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contínuas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—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por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44444"/>
                </a:solidFill>
                <a:latin typeface="Calibri"/>
              </a:rPr>
              <a:t>isso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 streaming </a:t>
            </a:r>
            <a:r>
              <a:rPr lang="pt-BR" sz="1200" b="0" i="0" dirty="0">
                <a:solidFill>
                  <a:srgbClr val="444444"/>
                </a:solidFill>
                <a:latin typeface="Calibri"/>
              </a:rPr>
              <a:t>não faz sentido aqui</a:t>
            </a:r>
            <a:r>
              <a:rPr sz="1200" b="0" i="0" dirty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8425"/>
    </mc:Choice>
    <mc:Fallback xmlns="">
      <p:transition spd="slow" advTm="48425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Valor da Pipeline para Análises Educacionais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24712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60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sz="1600" dirty="0">
                <a:solidFill>
                  <a:srgbClr val="444444"/>
                </a:solidFill>
                <a:latin typeface="Calibri"/>
              </a:rPr>
              <a:t>Ranking </a:t>
            </a:r>
            <a:r>
              <a:rPr lang="pt-BR" sz="1600" dirty="0">
                <a:solidFill>
                  <a:srgbClr val="444444"/>
                </a:solidFill>
                <a:latin typeface="Calibri"/>
              </a:rPr>
              <a:t>para </a:t>
            </a:r>
            <a:r>
              <a:rPr sz="1600" dirty="0">
                <a:solidFill>
                  <a:srgbClr val="444444"/>
                </a:solidFill>
                <a:latin typeface="Calibri"/>
              </a:rPr>
              <a:t>UF</a:t>
            </a:r>
            <a:r>
              <a:rPr lang="pt-BR" sz="1600" dirty="0">
                <a:solidFill>
                  <a:srgbClr val="444444"/>
                </a:solidFill>
                <a:latin typeface="Calibri"/>
              </a:rPr>
              <a:t> e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lang="pt-BR" sz="1600" dirty="0">
                <a:solidFill>
                  <a:srgbClr val="444444"/>
                </a:solidFill>
                <a:latin typeface="Calibri"/>
              </a:rPr>
              <a:t>M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unicípio</a:t>
            </a:r>
            <a:r>
              <a:rPr sz="1600" dirty="0">
                <a:solidFill>
                  <a:srgbClr val="444444"/>
                </a:solidFill>
                <a:latin typeface="Calibri"/>
              </a:rPr>
              <a:t>: CE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lidera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com 85,3%; BA é a UF com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menor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indicador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(36,0%).</a:t>
            </a:r>
          </a:p>
          <a:p>
            <a:pPr>
              <a:spcAft>
                <a:spcPts val="1800"/>
              </a:spcAft>
            </a:pPr>
            <a:r>
              <a:rPr sz="160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sz="1600" dirty="0">
                <a:solidFill>
                  <a:srgbClr val="444444"/>
                </a:solidFill>
                <a:latin typeface="Calibri"/>
              </a:rPr>
              <a:t>53,3% dos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municípios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avaliados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atingiram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sua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própria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meta municipal (2.788 de 5.232 com meta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definida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).</a:t>
            </a:r>
          </a:p>
          <a:p>
            <a:pPr>
              <a:spcAft>
                <a:spcPts val="1800"/>
              </a:spcAft>
            </a:pPr>
            <a:r>
              <a:rPr sz="160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sz="1600" dirty="0">
                <a:solidFill>
                  <a:srgbClr val="444444"/>
                </a:solidFill>
                <a:latin typeface="Calibri"/>
              </a:rPr>
              <a:t>RS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teve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a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maior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queda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entre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os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dois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últimos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anos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(-18,8 p.p.)</a:t>
            </a:r>
            <a:r>
              <a:rPr lang="pt-BR" sz="1600" dirty="0">
                <a:solidFill>
                  <a:srgbClr val="444444"/>
                </a:solidFill>
                <a:latin typeface="Calibri"/>
              </a:rPr>
              <a:t>.</a:t>
            </a:r>
            <a:endParaRPr sz="1600" dirty="0">
              <a:solidFill>
                <a:srgbClr val="444444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160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sz="1600" dirty="0">
                <a:solidFill>
                  <a:srgbClr val="444444"/>
                </a:solidFill>
                <a:latin typeface="Calibri"/>
              </a:rPr>
              <a:t>Cada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município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carrega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,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na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mesma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linha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,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resultado</a:t>
            </a:r>
            <a:r>
              <a:rPr sz="1600" dirty="0">
                <a:solidFill>
                  <a:srgbClr val="444444"/>
                </a:solidFill>
                <a:latin typeface="Calibri"/>
              </a:rPr>
              <a:t>, meta, gap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nacional</a:t>
            </a:r>
            <a:r>
              <a:rPr sz="1600" dirty="0">
                <a:solidFill>
                  <a:srgbClr val="444444"/>
                </a:solidFill>
                <a:latin typeface="Calibri"/>
              </a:rPr>
              <a:t>,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faixa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de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risco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e IDHM — pronto para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priorizar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onde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investir</a:t>
            </a:r>
            <a:r>
              <a:rPr sz="1600" dirty="0">
                <a:solidFill>
                  <a:srgbClr val="444444"/>
                </a:solidFill>
                <a:latin typeface="Calibri"/>
              </a:rPr>
              <a:t>.</a:t>
            </a:r>
          </a:p>
          <a:p>
            <a:pPr>
              <a:spcAft>
                <a:spcPts val="1800"/>
              </a:spcAft>
            </a:pPr>
            <a:r>
              <a:rPr sz="1600" b="1" dirty="0">
                <a:solidFill>
                  <a:srgbClr val="2E86C1"/>
                </a:solidFill>
                <a:latin typeface="Calibri"/>
              </a:rPr>
              <a:t>▶  </a:t>
            </a:r>
            <a:r>
              <a:rPr lang="pt-BR" sz="1600" dirty="0" err="1">
                <a:solidFill>
                  <a:srgbClr val="444444"/>
                </a:solidFill>
                <a:latin typeface="Calibri"/>
              </a:rPr>
              <a:t>Pa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inel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interativo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(4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visões</a:t>
            </a:r>
            <a:r>
              <a:rPr sz="1600" dirty="0">
                <a:solidFill>
                  <a:srgbClr val="444444"/>
                </a:solidFill>
                <a:latin typeface="Calibri"/>
              </a:rPr>
              <a:t>: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Brasil</a:t>
            </a:r>
            <a:r>
              <a:rPr sz="1600" dirty="0">
                <a:solidFill>
                  <a:srgbClr val="444444"/>
                </a:solidFill>
                <a:latin typeface="Calibri"/>
              </a:rPr>
              <a:t>, UF,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Município</a:t>
            </a:r>
            <a:r>
              <a:rPr sz="1600" dirty="0">
                <a:solidFill>
                  <a:srgbClr val="444444"/>
                </a:solidFill>
                <a:latin typeface="Calibri"/>
              </a:rPr>
              <a:t>,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Aluno</a:t>
            </a:r>
            <a:r>
              <a:rPr sz="1600" dirty="0">
                <a:solidFill>
                  <a:srgbClr val="444444"/>
                </a:solidFill>
                <a:latin typeface="Calibri"/>
              </a:rPr>
              <a:t>), pronto para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gestores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explorarem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sem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escrever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uma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linha</a:t>
            </a:r>
            <a:r>
              <a:rPr sz="1600" dirty="0">
                <a:solidFill>
                  <a:srgbClr val="444444"/>
                </a:solidFill>
                <a:latin typeface="Calibri"/>
              </a:rPr>
              <a:t> de </a:t>
            </a:r>
            <a:r>
              <a:rPr sz="1600" dirty="0" err="1">
                <a:solidFill>
                  <a:srgbClr val="444444"/>
                </a:solidFill>
                <a:latin typeface="Calibri"/>
              </a:rPr>
              <a:t>código</a:t>
            </a:r>
            <a:r>
              <a:rPr sz="1600" dirty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983"/>
    </mc:Choice>
    <mc:Fallback xmlns="">
      <p:transition spd="slow" advTm="1398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Potencial de Uso para Inteligência Artificial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0876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82296" cy="23317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6550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🎯  Modelos preditivos de alfabetização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075688"/>
            <a:ext cx="50749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Usar IDHM (educação, longevidade, renda) + histórico do indicador para prever municípios em risco de não atingir a meta de 2030.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50876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80760" y="1508760"/>
            <a:ext cx="82296" cy="23317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36792" y="16550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🧩  Clusters de vulnerabilidade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2075688"/>
            <a:ext cx="50749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Segmentar municípios por perfil de risco (faixa de risco + IDHM + gap de meta) para priorizar onde investir primeiro.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2336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4023360"/>
            <a:ext cx="82296" cy="23317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41696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⚖️  Análise de desigualdade educacional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590288"/>
            <a:ext cx="50749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Cruzar taxa de alfabetização com IDHM por região/UF para saber se o gap educacional acompanha o gap de desenvolvimento humano.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402336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80760" y="4023360"/>
            <a:ext cx="82296" cy="23317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36792" y="41696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🏛️  Políticas públicas baseadas em dados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4590288"/>
            <a:ext cx="50749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Simular cenários de investimento e medir impacto esperado no indicador, segmentando por faixa de IDHM.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023"/>
    </mc:Choice>
    <mc:Fallback xmlns="">
      <p:transition spd="slow" advTm="29023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FINOPS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Quanto Custa Rodar Isso na Nuvem?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Estimativa simbólica: preço on-demand padrão (BigQuery + Cloud Run + Storage), cruzando volume real de dados (~219 MB) com a frequência de execução.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68635"/>
            <a:ext cx="9326880" cy="50292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960075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Cadência de execução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960075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960075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 anual estimado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71555"/>
            <a:ext cx="9326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371555"/>
            <a:ext cx="73152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2554435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Diário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55443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365x/ano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55443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53A"/>
                </a:solidFill>
                <a:latin typeface="Calibri"/>
              </a:rPr>
              <a:t>R$ 35 / 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48795"/>
            <a:ext cx="9326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148795"/>
            <a:ext cx="73152" cy="7772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331675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Semanal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33167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52x/ano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33167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53A"/>
                </a:solidFill>
                <a:latin typeface="Calibri"/>
              </a:rPr>
              <a:t>R$ 5 / ano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26035"/>
            <a:ext cx="9326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926035"/>
            <a:ext cx="73152" cy="777240"/>
          </a:xfrm>
          <a:prstGeom prst="rect">
            <a:avLst/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108915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Mensal (recomendado)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10891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12x/ano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10891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53A"/>
                </a:solidFill>
                <a:latin typeface="Calibri"/>
              </a:rPr>
              <a:t>R$ 1,40 / ano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703275"/>
            <a:ext cx="9326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" y="4703275"/>
            <a:ext cx="73152" cy="7772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4886155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Cadência real da fonte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88615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~1x/ano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88615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53A"/>
                </a:solidFill>
                <a:latin typeface="Calibri"/>
              </a:rPr>
              <a:t>R$ 0,35 / 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623560"/>
            <a:ext cx="9493464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5778225"/>
            <a:ext cx="9098280" cy="4770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1" dirty="0">
                <a:solidFill>
                  <a:srgbClr val="1A253A"/>
                </a:solidFill>
                <a:latin typeface="Calibri"/>
              </a:rPr>
              <a:t>Rodar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mensalmente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custa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~96%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menos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que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diariamente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—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sem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perder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capacidade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de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captar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dado novo,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já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que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a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fonte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não publica com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essa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1A253A"/>
                </a:solidFill>
                <a:latin typeface="Calibri"/>
              </a:rPr>
              <a:t>frequência</a:t>
            </a:r>
            <a:r>
              <a:rPr sz="1250" b="0" i="1" dirty="0">
                <a:solidFill>
                  <a:srgbClr val="1A253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712"/>
    </mc:Choice>
    <mc:Fallback xmlns="">
      <p:transition spd="slow" advTm="21712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Conclusão e Próximos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Resumo: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54864" cy="3657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64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444444"/>
                </a:solidFill>
                <a:latin typeface="Calibri"/>
              </a:rPr>
              <a:t>O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indicador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está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subindo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(+10,1 p.p.)</a:t>
            </a:r>
            <a:r>
              <a:rPr lang="pt-BR" sz="1500" b="0" i="0" dirty="0">
                <a:solidFill>
                  <a:srgbClr val="444444"/>
                </a:solidFill>
                <a:latin typeface="Calibri"/>
              </a:rPr>
              <a:t>, ritmo bom, mas será desafio para lugares com índices muito baixos como BH.</a:t>
            </a:r>
            <a:endParaRPr sz="1500" b="0" i="0" dirty="0">
              <a:solidFill>
                <a:srgbClr val="444444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65760" y="2532888"/>
            <a:ext cx="54864" cy="365760"/>
          </a:xfrm>
          <a:prstGeom prst="rect">
            <a:avLst/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532888"/>
            <a:ext cx="11064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444444"/>
                </a:solidFill>
                <a:latin typeface="Calibri"/>
              </a:rPr>
              <a:t>A pipeline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já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entrega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ranking, gaps e deltas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prontos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para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decisão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— </a:t>
            </a:r>
            <a:r>
              <a:rPr lang="pt-BR" sz="1500" b="0" i="0" dirty="0">
                <a:solidFill>
                  <a:srgbClr val="444444"/>
                </a:solidFill>
                <a:latin typeface="Calibri"/>
              </a:rPr>
              <a:t>Sem necessidade de ajustes futuros.</a:t>
            </a:r>
            <a:endParaRPr sz="1500" b="0" i="0" dirty="0">
              <a:solidFill>
                <a:srgbClr val="444444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65760" y="3099816"/>
            <a:ext cx="54864" cy="3657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099816"/>
            <a:ext cx="11064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444444"/>
                </a:solidFill>
                <a:latin typeface="Calibri"/>
              </a:rPr>
              <a:t>A base Gold, com IDHM,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já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está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pronta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para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os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primeiros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modelos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preditivos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e clusters de </a:t>
            </a:r>
            <a:r>
              <a:rPr sz="1500" b="0" i="0" dirty="0" err="1">
                <a:solidFill>
                  <a:srgbClr val="444444"/>
                </a:solidFill>
                <a:latin typeface="Calibri"/>
              </a:rPr>
              <a:t>vulnerabilidade</a:t>
            </a:r>
            <a:r>
              <a:rPr lang="pt-BR" sz="1500" dirty="0">
                <a:solidFill>
                  <a:srgbClr val="444444"/>
                </a:solidFill>
                <a:latin typeface="Calibri"/>
              </a:rPr>
              <a:t>.</a:t>
            </a:r>
            <a:endParaRPr sz="1500" b="0" i="0" dirty="0">
              <a:solidFill>
                <a:srgbClr val="444444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3666744"/>
            <a:ext cx="54864" cy="365760"/>
          </a:xfrm>
          <a:prstGeom prst="rect">
            <a:avLst/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66674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44444"/>
                </a:solidFill>
                <a:latin typeface="Calibri"/>
              </a:rPr>
              <a:t>Qualidade dos dados é auditada automaticamente a cada execução (28/28 tabelas OK na última rodada)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33672"/>
            <a:ext cx="54864" cy="36576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233672"/>
            <a:ext cx="11064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444444"/>
                </a:solidFill>
                <a:latin typeface="Calibri"/>
              </a:rPr>
              <a:t>Operar</a:t>
            </a:r>
            <a:r>
              <a:rPr sz="15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lang="pt-BR" sz="1500" b="0" i="0" dirty="0">
                <a:solidFill>
                  <a:srgbClr val="444444"/>
                </a:solidFill>
                <a:latin typeface="Calibri"/>
              </a:rPr>
              <a:t>custa pouco para atualizar por demanda ou com fluxos mensais.</a:t>
            </a:r>
            <a:endParaRPr sz="1500" b="0" i="0" dirty="0">
              <a:solidFill>
                <a:srgbClr val="444444"/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931"/>
    </mc:Choice>
    <mc:Fallback xmlns="">
      <p:transition spd="slow" advTm="40931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1110</Words>
  <Application>Microsoft Office PowerPoint</Application>
  <PresentationFormat>Widescreen</PresentationFormat>
  <Paragraphs>109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Barbato de Biaggio</cp:lastModifiedBy>
  <cp:revision>4</cp:revision>
  <dcterms:created xsi:type="dcterms:W3CDTF">2013-01-27T09:14:16Z</dcterms:created>
  <dcterms:modified xsi:type="dcterms:W3CDTF">2026-08-29T21:20:57Z</dcterms:modified>
  <cp:category/>
</cp:coreProperties>
</file>