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24144"/>
            <a:ext cx="12191695" cy="113385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Pipeline Híbrido para Análise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 Alfabetização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AACCFF"/>
                </a:solidFill>
                <a:latin typeface="Calibri"/>
              </a:rPr>
              <a:t>Indicador Criança Alfabetizada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77639"/>
            <a:ext cx="3931920" cy="36576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ACCFF"/>
                </a:solidFill>
                <a:latin typeface="Calibri"/>
              </a:rPr>
              <a:t>Pós-Tech FIAP  |  1IAST  |  Tech Challenge Fase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Felipe Barbato de Biaggio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 Problema de Negócio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Situação atual: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11338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O Compromisso Nacional Criança Alfabetizada mobiliza União, estados e municípios para que toda criança esteja alfabetizada até o final do 2º ano do ensino fundamental — meta: 2030.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O INEP definiu 743 pontos na escala de proficiência do Saeb como o corte de alfabetização, criando o Indicador Criança Alfabetizada.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Hoje (2025), 66,0% das crianças avaliadas atingem esse patamar — a meta é 80,0% até 2030.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Sem integrar resultado, metas, território e contexto socioeconômico, gestores não enxergam onde agir primeiro.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34840"/>
            <a:ext cx="5486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Pergunta central: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892040"/>
            <a:ext cx="114300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1">
                <a:solidFill>
                  <a:srgbClr val="1A253A"/>
                </a:solidFill>
                <a:latin typeface="Calibri"/>
              </a:rPr>
              <a:t>“Como transformar dados dispersos do INEP em uma base confiável, atualizada e pronta para decisão — mostrando quem está evoluindo, quem está estagnado, e por quê?”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Diagnóstico: Onde Estamos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66,0%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Indicador nacional (2025)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80,0%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Meta nacional (2030)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14,0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Gap para a meta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508760"/>
            <a:ext cx="26060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673352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+10,1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4203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Evolução 2023–2025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429000"/>
            <a:ext cx="11430000" cy="274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611880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F4E79"/>
                </a:solidFill>
                <a:latin typeface="Calibri"/>
              </a:rPr>
              <a:t>O que esses números significam para a gestão?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160520"/>
            <a:ext cx="11338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Estamos avançando (+10,1 p.p. em 2 anos), mas o ritmo precisa acelerar para fechar 14,0 p.p. até 2030.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O indicador nacional esconde desigualdade regional: CE chega a 85,3%, enquanto BA não passa de 36,0%.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E86C1"/>
                </a:solidFill>
                <a:latin typeface="Calibri"/>
              </a:rPr>
              <a:t>▶  </a:t>
            </a:r>
            <a:r>
              <a:rPr sz="1500">
                <a:solidFill>
                  <a:srgbClr val="444444"/>
                </a:solidFill>
                <a:latin typeface="Calibri"/>
              </a:rPr>
              <a:t>RS teve a maior queda do país entre os dois últimos anos (-18,8 p.p.) — um sinal de alerta que só aparece comparando anos lado a lado.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Arquitetura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Fontes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INEP / Base dos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Dados + IDHM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+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7830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53A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Bronze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Dado bruto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preservado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17830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53A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Limpo, integrado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 validado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78308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A253A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508760"/>
            <a:ext cx="2423160" cy="1051560"/>
          </a:xfrm>
          <a:prstGeom prst="roundRect">
            <a:avLst>
              <a:gd name="adj" fmla="val 6000"/>
            </a:avLst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1618488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94767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Pronto para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análise e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444444"/>
                </a:solidFill>
                <a:latin typeface="Calibri"/>
              </a:rPr>
              <a:t>Qualidade de dados validada de ponta a ponta, em todas as camadas, a cada execução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52044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 b="1">
                <a:solidFill>
                  <a:srgbClr val="2E86C1"/>
                </a:solidFill>
                <a:latin typeface="Calibri"/>
              </a:rPr>
              <a:t>▶  </a:t>
            </a:r>
            <a:r>
              <a:rPr sz="1450">
                <a:solidFill>
                  <a:srgbClr val="444444"/>
                </a:solidFill>
                <a:latin typeface="Calibri"/>
              </a:rPr>
              <a:t>Ingestão híbrida: dados históricos por lote (batch, com fallback automático) + eventos simulados de atualização (streaming) — o mesmo padrão usado por bancos e fintechs para ingestão contínua.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2E86C1"/>
                </a:solidFill>
                <a:latin typeface="Calibri"/>
              </a:rPr>
              <a:t>▶  </a:t>
            </a:r>
            <a:r>
              <a:rPr sz="1450">
                <a:solidFill>
                  <a:srgbClr val="444444"/>
                </a:solidFill>
                <a:latin typeface="Calibri"/>
              </a:rPr>
              <a:t>9 fontes de dados integradas (resultado, metas, território, microdados de alunos, IDHM), unificadas em um único registro por município e ano.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2E86C1"/>
                </a:solidFill>
                <a:latin typeface="Calibri"/>
              </a:rPr>
              <a:t>▶  </a:t>
            </a:r>
            <a:r>
              <a:rPr sz="1450">
                <a:solidFill>
                  <a:srgbClr val="444444"/>
                </a:solidFill>
                <a:latin typeface="Calibri"/>
              </a:rPr>
              <a:t>A camada Gold alimenta diretamente dashboards, análises estatísticas e o treinamento de modelos de machine learning — sem retrabalho.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TRANSPARÊNCIA COM 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Qualidade e Limitações dos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Tabelas verificadas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627632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28 /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Tabelas 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627632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53A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13055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444444"/>
                </a:solidFill>
                <a:latin typeface="Calibri"/>
              </a:rPr>
              <a:t>Alertas de qualidade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971800"/>
            <a:ext cx="3685032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971800"/>
            <a:ext cx="82296" cy="32461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118104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📖  Dicionário oficial indisponível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538728"/>
            <a:ext cx="322783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5 colunas (rede, serie, presenca, preenchimento_caderno, alfabetizado) tiveram o significado inferido — não confirmado pela fonte, que exige BigQuery pago. Validado empiricamente: alfabetizado bate 100% com o corte de 743 pontos.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672" y="2971800"/>
            <a:ext cx="3685032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F39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33672" y="2971800"/>
            <a:ext cx="82296" cy="324612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4" y="3118104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📅  A fonte atualiza pouco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4" y="3538728"/>
            <a:ext cx="322783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Última atualização registrada: 23/09/2025 — mas ainda não há dado de 2025 disponível. O indicador é medido uma vez por ciclo letivo, não é dado transacional que muda dia a dia.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2971800"/>
            <a:ext cx="3685032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01583" y="2971800"/>
            <a:ext cx="82296" cy="32461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5" y="3118104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🔄  Streaming é uma simulação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5" y="3538728"/>
            <a:ext cx="322783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Eventos sintéticos demonstram o padrão de ingestão incremental. A fonte real não emite atualizações contínuas — por isso streaming de verdade seria over-engineering aqui.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Valor da Pipeline para Análises Educacionais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600" b="1">
                <a:solidFill>
                  <a:srgbClr val="2E86C1"/>
                </a:solidFill>
                <a:latin typeface="Calibri"/>
              </a:rPr>
              <a:t>▶  </a:t>
            </a:r>
            <a:r>
              <a:rPr sz="1600">
                <a:solidFill>
                  <a:srgbClr val="444444"/>
                </a:solidFill>
                <a:latin typeface="Calibri"/>
              </a:rPr>
              <a:t>Ranking pronto por UF e município: hoje, CE lidera com 85,3%; BA é a UF com menor indicador (36,0%).</a:t>
            </a:r>
          </a:p>
          <a:p>
            <a:pPr>
              <a:spcAft>
                <a:spcPts val="1800"/>
              </a:spcAft>
            </a:pPr>
            <a:r>
              <a:rPr sz="1600" b="1">
                <a:solidFill>
                  <a:srgbClr val="2E86C1"/>
                </a:solidFill>
                <a:latin typeface="Calibri"/>
              </a:rPr>
              <a:t>▶  </a:t>
            </a:r>
            <a:r>
              <a:rPr sz="1600">
                <a:solidFill>
                  <a:srgbClr val="444444"/>
                </a:solidFill>
                <a:latin typeface="Calibri"/>
              </a:rPr>
              <a:t>53,3% dos municípios avaliados atingiram sua própria meta municipal (2.788 de 5.232 com meta definida).</a:t>
            </a:r>
          </a:p>
          <a:p>
            <a:pPr>
              <a:spcAft>
                <a:spcPts val="1800"/>
              </a:spcAft>
            </a:pPr>
            <a:r>
              <a:rPr sz="1600" b="1">
                <a:solidFill>
                  <a:srgbClr val="2E86C1"/>
                </a:solidFill>
                <a:latin typeface="Calibri"/>
              </a:rPr>
              <a:t>▶  </a:t>
            </a:r>
            <a:r>
              <a:rPr sz="1600">
                <a:solidFill>
                  <a:srgbClr val="444444"/>
                </a:solidFill>
                <a:latin typeface="Calibri"/>
              </a:rPr>
              <a:t>RS teve a maior queda entre os dois últimos anos (-18,8 p.p.) — um sinal que só aparece quando comparamos períodos lado a lado, não em uma foto única.</a:t>
            </a:r>
          </a:p>
          <a:p>
            <a:pPr>
              <a:spcAft>
                <a:spcPts val="1800"/>
              </a:spcAft>
            </a:pPr>
            <a:r>
              <a:rPr sz="1600" b="1">
                <a:solidFill>
                  <a:srgbClr val="2E86C1"/>
                </a:solidFill>
                <a:latin typeface="Calibri"/>
              </a:rPr>
              <a:t>▶  </a:t>
            </a:r>
            <a:r>
              <a:rPr sz="1600">
                <a:solidFill>
                  <a:srgbClr val="444444"/>
                </a:solidFill>
                <a:latin typeface="Calibri"/>
              </a:rPr>
              <a:t>Cada município carrega, na mesma linha, resultado, meta, gap nacional, faixa de risco e IDHM — pronto para priorizar onde investir, sem cruzar planilhas manualmente.</a:t>
            </a:r>
          </a:p>
          <a:p>
            <a:pPr>
              <a:spcAft>
                <a:spcPts val="1800"/>
              </a:spcAft>
            </a:pPr>
            <a:r>
              <a:rPr sz="1600" b="1">
                <a:solidFill>
                  <a:srgbClr val="2E86C1"/>
                </a:solidFill>
                <a:latin typeface="Calibri"/>
              </a:rPr>
              <a:t>▶  </a:t>
            </a:r>
            <a:r>
              <a:rPr sz="1600">
                <a:solidFill>
                  <a:srgbClr val="444444"/>
                </a:solidFill>
                <a:latin typeface="Calibri"/>
              </a:rPr>
              <a:t>Tudo isso já está disponível como um painel interativo (4 visões: Brasil, UF, Município, Aluno), pronto para gestores explorarem sem escrever uma linha de código.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Potencial de Uso para Inteligência Artificial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087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6550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🎯  Modelos preditivos de alfabetização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0756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Usar IDHM (educação, longevidade, renda) + histórico do indicador para prever municípios em risco de não atingir a meta de 2030.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5087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5087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6550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🧩  Clusters de vulnerabilidade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20756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Segmentar municípios por perfil de risco (faixa de risco + IDHM + gap de meta) para priorizar onde investir primeiro.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233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40233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696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⚖️  Análise de desigualdade educacional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5902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Cruzar taxa de alfabetização com IDHM por região/UF para saber se o gap educacional acompanha o gap de desenvolvimento humano.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40233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4023360"/>
            <a:ext cx="82296" cy="23317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4169664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53A"/>
                </a:solidFill>
                <a:latin typeface="Calibri"/>
              </a:rPr>
              <a:t>🏛️  Políticas públicas baseadas em dados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4590288"/>
            <a:ext cx="5074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  <a:latin typeface="Calibri"/>
              </a:rPr>
              <a:t>Simular cenários de investimento e medir impacto esperado no indicador, segmentando por faixa de IDHM.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FINOPS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Quanto Custa Rodar Isso na Nuvem?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Estimativa simbólica: preço on-demand padrão (BigQuery + Cloud Run + Storage), cruzando volume real de dados (~219 MB) com a frequência de execução.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48840"/>
            <a:ext cx="9326880" cy="5029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Cadência de execução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40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Frequência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240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 anual estimado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51760"/>
            <a:ext cx="73152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346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Diário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8346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365x/ano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8346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R$ 35 / 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73152" cy="77724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118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Semanal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6118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52x/ano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6118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R$ 5 / ano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06240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06240"/>
            <a:ext cx="73152" cy="77724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3891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Mensal (recomendado)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389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12x/ano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389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R$ 1,40 / ano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83480"/>
            <a:ext cx="9326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83480"/>
            <a:ext cx="73152" cy="7772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66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Cadência real da fonte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166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53A"/>
                </a:solidFill>
                <a:latin typeface="Calibri"/>
              </a:rPr>
              <a:t>~1x/ano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166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53A"/>
                </a:solidFill>
                <a:latin typeface="Calibri"/>
              </a:rPr>
              <a:t>R$ 0,35 / 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5623560"/>
            <a:ext cx="114300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742432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1">
                <a:solidFill>
                  <a:srgbClr val="1A253A"/>
                </a:solidFill>
                <a:latin typeface="Calibri"/>
              </a:rPr>
              <a:t>Rodar mensalmente custa ~96% menos que diariamente — sem perder capacidade de captar dado novo, já que a fonte não publica com essa frequência. Dentro do tier gratuito do BigQuery, o custo real hoje é R$ 0.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Conclusão e Próximos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2  |  Pipeline Híbrido — Alfabetização no Brasil  |  Pós-Tech FIAP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Resumo: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54864" cy="3657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  <a:latin typeface="Calibri"/>
              </a:rPr>
              <a:t>O indicador está subindo (+10,1 p.p.) mas o ritmo não fecha a meta 2030 sem ação direcionada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32888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328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  <a:latin typeface="Calibri"/>
              </a:rPr>
              <a:t>A pipeline já entrega, hoje, ranking, gaps e deltas prontos para decisão — sem esperar TI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99816"/>
            <a:ext cx="54864" cy="3657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09981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  <a:latin typeface="Calibri"/>
              </a:rPr>
              <a:t>A base Gold, com IDHM, já está pronta para os primeiros modelos preditivos e clusters de vulnerabilidade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66744"/>
            <a:ext cx="54864" cy="365760"/>
          </a:xfrm>
          <a:prstGeom prst="rect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666744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  <a:latin typeface="Calibri"/>
              </a:rPr>
              <a:t>Qualidade dos dados é auditada automaticamente a cada execução (28/28 tabelas OK na última rodada)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33672"/>
            <a:ext cx="54864" cy="36576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3367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44"/>
                </a:solidFill>
                <a:latin typeface="Calibri"/>
              </a:rPr>
              <a:t>Operar isso custa centavos por ano — a decisão de frequência importa mais que a infraestrutura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